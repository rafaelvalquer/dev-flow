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33086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id.atlassian.com/manage-profile/security/api-tokens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658368" y="658368"/>
            <a:ext cx="914400" cy="914400"/>
          </a:xfrm>
          <a:prstGeom prst="roundRect">
            <a:avLst>
              <a:gd name="adj" fmla="val 18000"/>
            </a:avLst>
          </a:prstGeom>
          <a:solidFill>
            <a:srgbClr val="E9F2FF"/>
          </a:solidFill>
          <a:ln w="12700">
            <a:solidFill>
              <a:srgbClr val="E9F2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658368" y="969264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52CC"/>
                </a:solidFill>
              </a:rPr>
              <a:t>API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63093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72B4D"/>
                </a:solidFill>
              </a:rPr>
              <a:t>Como criar um token de API no Jira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76656" y="2962656"/>
            <a:ext cx="6583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E6C84"/>
                </a:solidFill>
              </a:rPr>
              <a:t>Passo a passo para gerar, copiar e guardar o token da conta Atlassian com segurança.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76656" y="3767328"/>
            <a:ext cx="3474720" cy="411480"/>
          </a:xfrm>
          <a:prstGeom prst="roundRect">
            <a:avLst>
              <a:gd name="adj" fmla="val 17778"/>
            </a:avLst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859536" y="3886200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Duração estimada: 2 minutos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452360" y="1024128"/>
            <a:ext cx="3840480" cy="4983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BECF0"/>
            </a:solidFill>
            <a:prstDash val="solid"/>
          </a:ln>
          <a:effectLst>
            <a:outerShdw blurRad="12700" dist="50800" dir="2700000" algn="bl" rotWithShape="0">
              <a:srgbClr val="C1C7D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7653528" y="1371600"/>
            <a:ext cx="342900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FE1E6"/>
            </a:solidFill>
            <a:prstDash val="solid"/>
          </a:ln>
          <a:effectLst>
            <a:outerShdw blurRad="12700" dist="50800" dir="2700000" algn="bl" rotWithShape="0">
              <a:srgbClr val="C1C7D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1" name="Image 0" descr="/mnt/data/18821240-cfd2-4745-aa87-eb14593e7d6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9248" y="1427035"/>
            <a:ext cx="3337560" cy="2358011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7653528" y="4114800"/>
            <a:ext cx="3429000" cy="1636776"/>
          </a:xfrm>
          <a:prstGeom prst="roundRect">
            <a:avLst>
              <a:gd name="adj" fmla="val 5587"/>
            </a:avLst>
          </a:prstGeom>
          <a:solidFill>
            <a:srgbClr val="FFFFFF"/>
          </a:solidFill>
          <a:ln w="12700">
            <a:solidFill>
              <a:srgbClr val="DFE1E6"/>
            </a:solidFill>
            <a:prstDash val="solid"/>
          </a:ln>
          <a:effectLst>
            <a:outerShdw blurRad="12700" dist="50800" dir="2700000" algn="bl" rotWithShape="0">
              <a:srgbClr val="C1C7D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3" name="Image 1" descr="/mnt/data/45124eea-d255-4460-8d18-2b8bd633b4d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9248" y="4200172"/>
            <a:ext cx="3337560" cy="146603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02920" y="64282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993A4"/>
                </a:solidFill>
              </a:rPr>
              <a:t>Jira API Token  •  Visão geral</a:t>
            </a: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7863840" y="6428232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993A4"/>
                </a:solidFill>
              </a:rPr>
              <a:t>Guarde o token em local seguro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502920" y="384048"/>
            <a:ext cx="530352" cy="530352"/>
          </a:xfrm>
          <a:prstGeom prst="roundRect">
            <a:avLst>
              <a:gd name="adj" fmla="val 24138"/>
            </a:avLst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70432" y="329184"/>
            <a:ext cx="8961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Visão geral do processo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170432" y="79552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6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token é criado na conta Atlassian vinculada ao seu Jira.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1645920"/>
            <a:ext cx="2606040" cy="33375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BECF0"/>
            </a:solidFill>
            <a:prstDash val="solid"/>
          </a:ln>
          <a:effectLst>
            <a:outerShdw blurRad="12700" dist="50800" dir="2700000" algn="bl" rotWithShape="0">
              <a:srgbClr val="C1C7D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859536" y="1956816"/>
            <a:ext cx="621792" cy="621792"/>
          </a:xfrm>
          <a:prstGeom prst="ellipse">
            <a:avLst/>
          </a:prstGeom>
          <a:solidFill>
            <a:srgbClr val="E9F2FF"/>
          </a:solidFill>
          <a:ln w="12700">
            <a:solidFill>
              <a:srgbClr val="E9F2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859536" y="2121408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52CC"/>
                </a:solidFill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8680" y="281635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2B4D"/>
                </a:solidFill>
              </a:rPr>
              <a:t>Entrar no Jira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68680" y="3364992"/>
            <a:ext cx="2167128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5E6C84"/>
                </a:solidFill>
              </a:rPr>
              <a:t>Acesse sua instância do Jira e faça login com a conta correta.</a:t>
            </a:r>
            <a:endParaRPr lang="en-US" sz="1320" dirty="0"/>
          </a:p>
        </p:txBody>
      </p:sp>
      <p:sp>
        <p:nvSpPr>
          <p:cNvPr id="12" name="Shape 10"/>
          <p:cNvSpPr/>
          <p:nvPr/>
        </p:nvSpPr>
        <p:spPr>
          <a:xfrm>
            <a:off x="3502152" y="1645920"/>
            <a:ext cx="2606040" cy="33375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BECF0"/>
            </a:solidFill>
            <a:prstDash val="solid"/>
          </a:ln>
          <a:effectLst>
            <a:outerShdw blurRad="12700" dist="50800" dir="2700000" algn="bl" rotWithShape="0">
              <a:srgbClr val="C1C7D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3721608" y="1956816"/>
            <a:ext cx="621792" cy="621792"/>
          </a:xfrm>
          <a:prstGeom prst="ellipse">
            <a:avLst/>
          </a:prstGeom>
          <a:solidFill>
            <a:srgbClr val="E9F2FF"/>
          </a:solidFill>
          <a:ln w="12700">
            <a:solidFill>
              <a:srgbClr val="E9F2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3721608" y="2121408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52CC"/>
                </a:solidFill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730752" y="281635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2B4D"/>
                </a:solidFill>
              </a:rPr>
              <a:t>Abrir Segurança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730752" y="3364992"/>
            <a:ext cx="2167128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5E6C84"/>
                </a:solidFill>
              </a:rPr>
              <a:t>Entre em Configurações da conta e acesse os tokens de API.</a:t>
            </a:r>
            <a:endParaRPr lang="en-US" sz="1320" dirty="0"/>
          </a:p>
        </p:txBody>
      </p:sp>
      <p:sp>
        <p:nvSpPr>
          <p:cNvPr id="17" name="Shape 15"/>
          <p:cNvSpPr/>
          <p:nvPr/>
        </p:nvSpPr>
        <p:spPr>
          <a:xfrm>
            <a:off x="6364224" y="1645920"/>
            <a:ext cx="2606040" cy="33375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BECF0"/>
            </a:solidFill>
            <a:prstDash val="solid"/>
          </a:ln>
          <a:effectLst>
            <a:outerShdw blurRad="12700" dist="50800" dir="2700000" algn="bl" rotWithShape="0">
              <a:srgbClr val="C1C7D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6583680" y="1956816"/>
            <a:ext cx="621792" cy="621792"/>
          </a:xfrm>
          <a:prstGeom prst="ellipse">
            <a:avLst/>
          </a:prstGeom>
          <a:solidFill>
            <a:srgbClr val="E9F2FF"/>
          </a:solidFill>
          <a:ln w="12700">
            <a:solidFill>
              <a:srgbClr val="E9F2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6583680" y="2121408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52CC"/>
                </a:solidFill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92824" y="281635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2B4D"/>
                </a:solidFill>
              </a:rPr>
              <a:t>Criar token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592824" y="3364992"/>
            <a:ext cx="2167128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5E6C84"/>
                </a:solidFill>
              </a:rPr>
              <a:t>Defina um nome claro e uma validade de até 1 ano.</a:t>
            </a:r>
            <a:endParaRPr lang="en-US" sz="1320" dirty="0"/>
          </a:p>
        </p:txBody>
      </p:sp>
      <p:sp>
        <p:nvSpPr>
          <p:cNvPr id="22" name="Shape 20"/>
          <p:cNvSpPr/>
          <p:nvPr/>
        </p:nvSpPr>
        <p:spPr>
          <a:xfrm>
            <a:off x="9226296" y="1645920"/>
            <a:ext cx="2606040" cy="33375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BECF0"/>
            </a:solidFill>
            <a:prstDash val="solid"/>
          </a:ln>
          <a:effectLst>
            <a:outerShdw blurRad="12700" dist="50800" dir="2700000" algn="bl" rotWithShape="0">
              <a:srgbClr val="C1C7D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9445752" y="1956816"/>
            <a:ext cx="621792" cy="621792"/>
          </a:xfrm>
          <a:prstGeom prst="ellipse">
            <a:avLst/>
          </a:prstGeom>
          <a:solidFill>
            <a:srgbClr val="E9F2FF"/>
          </a:solidFill>
          <a:ln w="12700">
            <a:solidFill>
              <a:srgbClr val="E9F2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9445752" y="2121408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52CC"/>
                </a:solidFill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454896" y="281635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2B4D"/>
                </a:solidFill>
              </a:rPr>
              <a:t>Copiar e guardar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454896" y="3364992"/>
            <a:ext cx="2167128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5E6C84"/>
                </a:solidFill>
              </a:rPr>
              <a:t>Copie uma única vez e salve em local seguro.</a:t>
            </a:r>
            <a:endParaRPr lang="en-US" sz="1320" dirty="0"/>
          </a:p>
        </p:txBody>
      </p:sp>
      <p:sp>
        <p:nvSpPr>
          <p:cNvPr id="27" name="Shape 25"/>
          <p:cNvSpPr/>
          <p:nvPr/>
        </p:nvSpPr>
        <p:spPr>
          <a:xfrm>
            <a:off x="1965960" y="5522976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FE1E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2212848" y="568756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b="1" dirty="0">
                <a:solidFill>
                  <a:srgbClr val="DE350B"/>
                </a:solidFill>
              </a:rPr>
              <a:t>Importante: o token aparece apenas uma vez. Depois de concluir a criação, não será possível recuperar o valor.</a:t>
            </a:r>
            <a:endParaRPr lang="en-US" sz="1240" dirty="0"/>
          </a:p>
        </p:txBody>
      </p:sp>
      <p:sp>
        <p:nvSpPr>
          <p:cNvPr id="29" name="Text 27"/>
          <p:cNvSpPr/>
          <p:nvPr/>
        </p:nvSpPr>
        <p:spPr>
          <a:xfrm>
            <a:off x="502920" y="64282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993A4"/>
                </a:solidFill>
              </a:rPr>
              <a:t>Jira API Token  •  2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7863840" y="6428232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993A4"/>
                </a:solidFill>
              </a:rPr>
              <a:t>Guarde o token em local seguro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502920" y="384048"/>
            <a:ext cx="530352" cy="530352"/>
          </a:xfrm>
          <a:prstGeom prst="roundRect">
            <a:avLst>
              <a:gd name="adj" fmla="val 24138"/>
            </a:avLst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70432" y="329184"/>
            <a:ext cx="8961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Logar no Jira e abrir as configurações da conta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170432" y="79552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6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 conta que terá permissão para acessar os projetos e issues pela API.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1444752"/>
            <a:ext cx="5166360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EBECF0"/>
            </a:solidFill>
            <a:prstDash val="solid"/>
          </a:ln>
          <a:effectLst>
            <a:outerShdw blurRad="12700" dist="50800" dir="2700000" algn="bl" rotWithShape="0">
              <a:srgbClr val="C1C7D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960120" y="177393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2B4D"/>
                </a:solidFill>
              </a:rPr>
              <a:t>Ações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950976" y="2322576"/>
            <a:ext cx="310896" cy="310896"/>
          </a:xfrm>
          <a:prstGeom prst="ellipse">
            <a:avLst/>
          </a:prstGeom>
          <a:solidFill>
            <a:srgbClr val="E9F2FF"/>
          </a:solidFill>
          <a:ln w="12700">
            <a:solidFill>
              <a:srgbClr val="E9F2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950976" y="2372868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52CC"/>
                </a:solidFill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389888" y="2304288"/>
            <a:ext cx="42976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72B4D"/>
                </a:solidFill>
              </a:rPr>
              <a:t>Acesse o Jira e faça login.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950976" y="2834640"/>
            <a:ext cx="310896" cy="310896"/>
          </a:xfrm>
          <a:prstGeom prst="ellipse">
            <a:avLst/>
          </a:prstGeom>
          <a:solidFill>
            <a:srgbClr val="E9F2FF"/>
          </a:solidFill>
          <a:ln w="12700">
            <a:solidFill>
              <a:srgbClr val="E9F2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950976" y="2884932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52CC"/>
                </a:solidFill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389888" y="2816352"/>
            <a:ext cx="42976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72B4D"/>
                </a:solidFill>
              </a:rPr>
              <a:t>No canto direito, clique no seu avatar.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950976" y="3346704"/>
            <a:ext cx="310896" cy="310896"/>
          </a:xfrm>
          <a:prstGeom prst="ellipse">
            <a:avLst/>
          </a:prstGeom>
          <a:solidFill>
            <a:srgbClr val="E9F2FF"/>
          </a:solidFill>
          <a:ln w="12700">
            <a:solidFill>
              <a:srgbClr val="E9F2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950976" y="3396996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52CC"/>
                </a:solidFill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389888" y="3328416"/>
            <a:ext cx="42976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72B4D"/>
                </a:solidFill>
              </a:rPr>
              <a:t>Clique em “Configurações da conta”.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950976" y="4187952"/>
            <a:ext cx="4334256" cy="731520"/>
          </a:xfrm>
          <a:prstGeom prst="roundRect">
            <a:avLst>
              <a:gd name="adj" fmla="val 10000"/>
            </a:avLst>
          </a:prstGeom>
          <a:solidFill>
            <a:srgbClr val="E9F2FF"/>
          </a:solidFill>
          <a:ln w="12700">
            <a:solidFill>
              <a:srgbClr val="E9F2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1133856" y="441655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72B4D"/>
                </a:solidFill>
              </a:rPr>
              <a:t>Dica: confirme se o e-mail exibido no menu é a conta correta para a integração.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90488" y="1216152"/>
            <a:ext cx="5166360" cy="4892040"/>
          </a:xfrm>
          <a:prstGeom prst="roundRect">
            <a:avLst>
              <a:gd name="adj" fmla="val 1869"/>
            </a:avLst>
          </a:prstGeom>
          <a:solidFill>
            <a:srgbClr val="FFFFFF"/>
          </a:solidFill>
          <a:ln w="12700">
            <a:solidFill>
              <a:srgbClr val="DFE1E6"/>
            </a:solidFill>
            <a:prstDash val="solid"/>
          </a:ln>
          <a:effectLst>
            <a:outerShdw blurRad="12700" dist="50800" dir="2700000" algn="bl" rotWithShape="0">
              <a:srgbClr val="C1C7D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21" name="Image 0" descr="/mnt/data/jira_avatar_menu_redac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08" y="1274189"/>
            <a:ext cx="5074920" cy="4775966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502920" y="64282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993A4"/>
                </a:solidFill>
              </a:rPr>
              <a:t>Jira API Token  •  3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7863840" y="6428232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993A4"/>
                </a:solidFill>
              </a:rPr>
              <a:t>Guarde o token em local seguro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502920" y="384048"/>
            <a:ext cx="530352" cy="530352"/>
          </a:xfrm>
          <a:prstGeom prst="roundRect">
            <a:avLst>
              <a:gd name="adj" fmla="val 24138"/>
            </a:avLst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70432" y="329184"/>
            <a:ext cx="8961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Acessar Segurança e tokens de API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170432" y="79552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6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tela de tokens fica no perfil Atlassian, dentro da área de Segurança.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85800" y="1417320"/>
            <a:ext cx="544068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BECF0"/>
            </a:solidFill>
            <a:prstDash val="solid"/>
          </a:ln>
          <a:effectLst>
            <a:outerShdw blurRad="12700" dist="50800" dir="2700000" algn="bl" rotWithShape="0">
              <a:srgbClr val="C1C7D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987552" y="176479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2B4D"/>
                </a:solidFill>
              </a:rPr>
              <a:t>Caminho pelo menu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987552" y="2286000"/>
            <a:ext cx="310896" cy="310896"/>
          </a:xfrm>
          <a:prstGeom prst="ellipse">
            <a:avLst/>
          </a:prstGeom>
          <a:solidFill>
            <a:srgbClr val="E9F2FF"/>
          </a:solidFill>
          <a:ln w="12700">
            <a:solidFill>
              <a:srgbClr val="E9F2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987552" y="2336292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52CC"/>
                </a:solidFill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426464" y="2267712"/>
            <a:ext cx="44805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72B4D"/>
                </a:solidFill>
              </a:rPr>
              <a:t>Abra “Segurança”.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987552" y="2798064"/>
            <a:ext cx="310896" cy="310896"/>
          </a:xfrm>
          <a:prstGeom prst="ellipse">
            <a:avLst/>
          </a:prstGeom>
          <a:solidFill>
            <a:srgbClr val="E9F2FF"/>
          </a:solidFill>
          <a:ln w="12700">
            <a:solidFill>
              <a:srgbClr val="E9F2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987552" y="2848356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52CC"/>
                </a:solidFill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426464" y="2779776"/>
            <a:ext cx="44805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72B4D"/>
                </a:solidFill>
              </a:rPr>
              <a:t>Na seção de API, clique em “Criar e gerenciar tokens de API”.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987552" y="3493008"/>
            <a:ext cx="310896" cy="310896"/>
          </a:xfrm>
          <a:prstGeom prst="ellipse">
            <a:avLst/>
          </a:prstGeom>
          <a:solidFill>
            <a:srgbClr val="E9F2FF"/>
          </a:solidFill>
          <a:ln w="12700">
            <a:solidFill>
              <a:srgbClr val="E9F2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987552" y="3543300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52CC"/>
                </a:solidFill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426464" y="3474720"/>
            <a:ext cx="44805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72B4D"/>
                </a:solidFill>
              </a:rPr>
              <a:t>Também é possível acessar diretamente pelo link abaixo.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987552" y="4334256"/>
            <a:ext cx="480060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0052CC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>
            <a:hlinkClick r:id="rId3"/>
          </p:cNvPr>
          <p:cNvSpPr/>
          <p:nvPr/>
        </p:nvSpPr>
        <p:spPr>
          <a:xfrm>
            <a:off x="1152144" y="4462272"/>
            <a:ext cx="4471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u="sng" dirty="0">
                <a:solidFill>
                  <a:srgbClr val="0052CC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https://id.atlassian.com/manage-profile/security/api-tokens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656832" y="1417320"/>
            <a:ext cx="4526280" cy="4526280"/>
          </a:xfrm>
          <a:prstGeom prst="roundRect">
            <a:avLst>
              <a:gd name="adj" fmla="val 2424"/>
            </a:avLst>
          </a:prstGeom>
          <a:solidFill>
            <a:srgbClr val="E9F2FF"/>
          </a:solidFill>
          <a:ln w="12700">
            <a:solidFill>
              <a:srgbClr val="B3D4FF"/>
            </a:solidFill>
            <a:prstDash val="solid"/>
          </a:ln>
          <a:effectLst>
            <a:outerShdw blurRad="12700" dist="50800" dir="2700000" algn="bl" rotWithShape="0">
              <a:srgbClr val="C1C7D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7040880" y="19202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2B4D"/>
                </a:solidFill>
              </a:rPr>
              <a:t>Tela esperada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479792" y="2615184"/>
            <a:ext cx="2926080" cy="493776"/>
          </a:xfrm>
          <a:prstGeom prst="roundRect">
            <a:avLst>
              <a:gd name="adj" fmla="val 14815"/>
            </a:avLst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7635240" y="2761488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FFFFFF"/>
                </a:solidFill>
              </a:rPr>
              <a:t>+  Criar um token de API</a:t>
            </a:r>
            <a:endParaRPr lang="en-US" sz="1180" dirty="0"/>
          </a:p>
        </p:txBody>
      </p:sp>
      <p:sp>
        <p:nvSpPr>
          <p:cNvPr id="24" name="Text 22"/>
          <p:cNvSpPr/>
          <p:nvPr/>
        </p:nvSpPr>
        <p:spPr>
          <a:xfrm>
            <a:off x="7132320" y="345643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E6C84"/>
                </a:solidFill>
              </a:rPr>
              <a:t>O próximo passo começa neste botão.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086600" y="4791456"/>
            <a:ext cx="365760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E6C84"/>
                </a:solidFill>
              </a:rPr>
              <a:t>Use esta URL quando quiser enviar o caminho direto para outra pessoa.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02920" y="64282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993A4"/>
                </a:solidFill>
              </a:rPr>
              <a:t>Jira API Token  •  4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7863840" y="6428232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993A4"/>
                </a:solidFill>
              </a:rPr>
              <a:t>Guarde o token em local seguro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502920" y="384048"/>
            <a:ext cx="530352" cy="530352"/>
          </a:xfrm>
          <a:prstGeom prst="roundRect">
            <a:avLst>
              <a:gd name="adj" fmla="val 24138"/>
            </a:avLst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70432" y="329184"/>
            <a:ext cx="8961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Criar o token de API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170432" y="79552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6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Escolha um nome fácil de identificar e uma data de validade dentro do limite permitido.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1417320"/>
            <a:ext cx="5120640" cy="4370832"/>
          </a:xfrm>
          <a:prstGeom prst="roundRect">
            <a:avLst>
              <a:gd name="adj" fmla="val 2510"/>
            </a:avLst>
          </a:prstGeom>
          <a:solidFill>
            <a:srgbClr val="FFFFFF"/>
          </a:solidFill>
          <a:ln w="12700">
            <a:solidFill>
              <a:srgbClr val="EBECF0"/>
            </a:solidFill>
            <a:prstDash val="solid"/>
          </a:ln>
          <a:effectLst>
            <a:outerShdw blurRad="12700" dist="50800" dir="2700000" algn="bl" rotWithShape="0">
              <a:srgbClr val="C1C7D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969264" y="17556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2B4D"/>
                </a:solidFill>
              </a:rPr>
              <a:t>Preenchimento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960120" y="2286000"/>
            <a:ext cx="310896" cy="310896"/>
          </a:xfrm>
          <a:prstGeom prst="ellipse">
            <a:avLst/>
          </a:prstGeom>
          <a:solidFill>
            <a:srgbClr val="E9F2FF"/>
          </a:solidFill>
          <a:ln w="12700">
            <a:solidFill>
              <a:srgbClr val="E9F2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960120" y="2336292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52CC"/>
                </a:solidFill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399032" y="2267712"/>
            <a:ext cx="42519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72B4D"/>
                </a:solidFill>
              </a:rPr>
              <a:t>Clique em “Criar um token de API”.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960120" y="2798064"/>
            <a:ext cx="310896" cy="310896"/>
          </a:xfrm>
          <a:prstGeom prst="ellipse">
            <a:avLst/>
          </a:prstGeom>
          <a:solidFill>
            <a:srgbClr val="E9F2FF"/>
          </a:solidFill>
          <a:ln w="12700">
            <a:solidFill>
              <a:srgbClr val="E9F2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960120" y="2848356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52CC"/>
                </a:solidFill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399032" y="2779776"/>
            <a:ext cx="42519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72B4D"/>
                </a:solidFill>
              </a:rPr>
              <a:t>Informe um nome descritivo, por exemplo: “Integração”.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960120" y="3493008"/>
            <a:ext cx="310896" cy="310896"/>
          </a:xfrm>
          <a:prstGeom prst="ellipse">
            <a:avLst/>
          </a:prstGeom>
          <a:solidFill>
            <a:srgbClr val="E9F2FF"/>
          </a:solidFill>
          <a:ln w="12700">
            <a:solidFill>
              <a:srgbClr val="E9F2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960120" y="3543300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52CC"/>
                </a:solidFill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399032" y="3474720"/>
            <a:ext cx="42519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72B4D"/>
                </a:solidFill>
              </a:rPr>
              <a:t>Defina a expiração. O máximo recomendado aqui é 1 ano.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960120" y="4370832"/>
            <a:ext cx="4297680" cy="667512"/>
          </a:xfrm>
          <a:prstGeom prst="roundRect">
            <a:avLst>
              <a:gd name="adj" fmla="val 10959"/>
            </a:avLst>
          </a:prstGeom>
          <a:solidFill>
            <a:srgbClr val="FFF7E6"/>
          </a:solidFill>
          <a:ln w="12700">
            <a:solidFill>
              <a:srgbClr val="FFE3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1152144" y="4535424"/>
            <a:ext cx="391363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72B4D"/>
                </a:solidFill>
              </a:rPr>
              <a:t>Use nomes diferentes para cada sistema integrado. Isso facilita revogar apenas o token correto no futuro.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53912" y="1252728"/>
            <a:ext cx="5212080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DFE1E6"/>
            </a:solidFill>
            <a:prstDash val="solid"/>
          </a:ln>
          <a:effectLst>
            <a:outerShdw blurRad="12700" dist="50800" dir="2700000" algn="bl" rotWithShape="0">
              <a:srgbClr val="C1C7D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21" name="Image 0" descr="/mnt/data/18821240-cfd2-4745-aa87-eb14593e7d6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432663"/>
            <a:ext cx="5120640" cy="3617770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6537960" y="5413248"/>
            <a:ext cx="4480560" cy="384048"/>
          </a:xfrm>
          <a:prstGeom prst="roundRect">
            <a:avLst>
              <a:gd name="adj" fmla="val 19048"/>
            </a:avLst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0"/>
          <p:cNvSpPr/>
          <p:nvPr/>
        </p:nvSpPr>
        <p:spPr>
          <a:xfrm>
            <a:off x="6638544" y="5522976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Após preencher, clique em “Criar”.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02920" y="64282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993A4"/>
                </a:solidFill>
              </a:rPr>
              <a:t>Jira API Token  •  5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7863840" y="6428232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993A4"/>
                </a:solidFill>
              </a:rPr>
              <a:t>Guarde o token em local seguro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502920" y="384048"/>
            <a:ext cx="530352" cy="530352"/>
          </a:xfrm>
          <a:prstGeom prst="roundRect">
            <a:avLst>
              <a:gd name="adj" fmla="val 24138"/>
            </a:avLst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70432" y="329184"/>
            <a:ext cx="8961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Copiar o token e salvar em local seguro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170432" y="79552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6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valor do token não poderá ser recuperado depois que a janela for concluída.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1399032"/>
            <a:ext cx="5989320" cy="2907792"/>
          </a:xfrm>
          <a:prstGeom prst="roundRect">
            <a:avLst>
              <a:gd name="adj" fmla="val 3145"/>
            </a:avLst>
          </a:prstGeom>
          <a:solidFill>
            <a:srgbClr val="FFFFFF"/>
          </a:solidFill>
          <a:ln w="12700">
            <a:solidFill>
              <a:srgbClr val="DFE1E6"/>
            </a:solidFill>
            <a:prstDash val="solid"/>
          </a:ln>
          <a:effectLst>
            <a:outerShdw blurRad="12700" dist="50800" dir="2700000" algn="bl" rotWithShape="0">
              <a:srgbClr val="C1C7D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8" name="Image 0" descr="/mnt/data/45124eea-d255-4460-8d18-2b8bd633b4d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557599"/>
            <a:ext cx="5897880" cy="259065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059168" y="1417320"/>
            <a:ext cx="4434840" cy="4526280"/>
          </a:xfrm>
          <a:prstGeom prst="roundRect">
            <a:avLst>
              <a:gd name="adj" fmla="val 2474"/>
            </a:avLst>
          </a:prstGeom>
          <a:solidFill>
            <a:srgbClr val="FFFFFF"/>
          </a:solidFill>
          <a:ln w="12700">
            <a:solidFill>
              <a:srgbClr val="EBECF0"/>
            </a:solidFill>
            <a:prstDash val="solid"/>
          </a:ln>
          <a:effectLst>
            <a:outerShdw blurRad="12700" dist="50800" dir="2700000" algn="bl" rotWithShape="0">
              <a:srgbClr val="C1C7D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7360920" y="17830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2B4D"/>
                </a:solidFill>
              </a:rPr>
              <a:t>Checklist de segurança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7351776" y="2340864"/>
            <a:ext cx="310896" cy="310896"/>
          </a:xfrm>
          <a:prstGeom prst="ellipse">
            <a:avLst/>
          </a:prstGeom>
          <a:solidFill>
            <a:srgbClr val="E9F2FF"/>
          </a:solidFill>
          <a:ln w="12700">
            <a:solidFill>
              <a:srgbClr val="E9F2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7351776" y="2391156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52CC"/>
                </a:solidFill>
              </a:rPr>
              <a:t>1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790688" y="2322576"/>
            <a:ext cx="35661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72B4D"/>
                </a:solidFill>
              </a:rPr>
              <a:t>Clique em “Copiar”.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7351776" y="2852928"/>
            <a:ext cx="310896" cy="310896"/>
          </a:xfrm>
          <a:prstGeom prst="ellipse">
            <a:avLst/>
          </a:prstGeom>
          <a:solidFill>
            <a:srgbClr val="E9F2FF"/>
          </a:solidFill>
          <a:ln w="12700">
            <a:solidFill>
              <a:srgbClr val="E9F2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7351776" y="2903220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52CC"/>
                </a:solidFill>
              </a:rPr>
              <a:t>2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7790688" y="2834640"/>
            <a:ext cx="35661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72B4D"/>
                </a:solidFill>
              </a:rPr>
              <a:t>Cole o token em um cofre de senhas ou variável de ambiente.</a:t>
            </a:r>
            <a:endParaRPr lang="en-US" sz="1450" dirty="0"/>
          </a:p>
        </p:txBody>
      </p:sp>
      <p:sp>
        <p:nvSpPr>
          <p:cNvPr id="17" name="Shape 14"/>
          <p:cNvSpPr/>
          <p:nvPr/>
        </p:nvSpPr>
        <p:spPr>
          <a:xfrm>
            <a:off x="7351776" y="3547872"/>
            <a:ext cx="310896" cy="310896"/>
          </a:xfrm>
          <a:prstGeom prst="ellipse">
            <a:avLst/>
          </a:prstGeom>
          <a:solidFill>
            <a:srgbClr val="E9F2FF"/>
          </a:solidFill>
          <a:ln w="12700">
            <a:solidFill>
              <a:srgbClr val="E9F2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/>
          <p:nvPr/>
        </p:nvSpPr>
        <p:spPr>
          <a:xfrm>
            <a:off x="7351776" y="359816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52CC"/>
                </a:solidFill>
              </a:rPr>
              <a:t>3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7790688" y="3529584"/>
            <a:ext cx="35661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72B4D"/>
                </a:solidFill>
              </a:rPr>
              <a:t>Não envie o token por print, chat ou e-mail.</a:t>
            </a:r>
            <a:endParaRPr lang="en-US" sz="1450" dirty="0"/>
          </a:p>
        </p:txBody>
      </p:sp>
      <p:sp>
        <p:nvSpPr>
          <p:cNvPr id="20" name="Shape 17"/>
          <p:cNvSpPr/>
          <p:nvPr/>
        </p:nvSpPr>
        <p:spPr>
          <a:xfrm>
            <a:off x="7351776" y="4059936"/>
            <a:ext cx="310896" cy="310896"/>
          </a:xfrm>
          <a:prstGeom prst="ellipse">
            <a:avLst/>
          </a:prstGeom>
          <a:solidFill>
            <a:srgbClr val="E9F2FF"/>
          </a:solidFill>
          <a:ln w="12700">
            <a:solidFill>
              <a:srgbClr val="E9F2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8"/>
          <p:cNvSpPr/>
          <p:nvPr/>
        </p:nvSpPr>
        <p:spPr>
          <a:xfrm>
            <a:off x="7351776" y="4110228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52CC"/>
                </a:solidFill>
              </a:rPr>
              <a:t>4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7790688" y="4041648"/>
            <a:ext cx="35661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72B4D"/>
                </a:solidFill>
              </a:rPr>
              <a:t>Depois de salvar, clique em “Concluído”.</a:t>
            </a:r>
            <a:endParaRPr lang="en-US" sz="1450" dirty="0"/>
          </a:p>
        </p:txBody>
      </p:sp>
      <p:sp>
        <p:nvSpPr>
          <p:cNvPr id="23" name="Shape 20"/>
          <p:cNvSpPr/>
          <p:nvPr/>
        </p:nvSpPr>
        <p:spPr>
          <a:xfrm>
            <a:off x="1051560" y="4791456"/>
            <a:ext cx="5138928" cy="822960"/>
          </a:xfrm>
          <a:prstGeom prst="roundRect">
            <a:avLst>
              <a:gd name="adj" fmla="val 8889"/>
            </a:avLst>
          </a:prstGeom>
          <a:solidFill>
            <a:srgbClr val="FFEBE6"/>
          </a:solidFill>
          <a:ln w="12700">
            <a:solidFill>
              <a:srgbClr val="FFBDA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1"/>
          <p:cNvSpPr/>
          <p:nvPr/>
        </p:nvSpPr>
        <p:spPr>
          <a:xfrm>
            <a:off x="1298448" y="5029200"/>
            <a:ext cx="46634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40" b="1" dirty="0">
                <a:solidFill>
                  <a:srgbClr val="DE350B"/>
                </a:solidFill>
              </a:rPr>
              <a:t>Atenção: caso perca o token, crie outro e substitua na integração. Não é possível visualizar o token antigo novamente.</a:t>
            </a:r>
            <a:endParaRPr lang="en-US" sz="1240" dirty="0"/>
          </a:p>
        </p:txBody>
      </p:sp>
      <p:sp>
        <p:nvSpPr>
          <p:cNvPr id="25" name="Text 22"/>
          <p:cNvSpPr/>
          <p:nvPr/>
        </p:nvSpPr>
        <p:spPr>
          <a:xfrm>
            <a:off x="502920" y="64282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993A4"/>
                </a:solidFill>
              </a:rPr>
              <a:t>Jira API Token  •  6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7863840" y="6428232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993A4"/>
                </a:solidFill>
              </a:rPr>
              <a:t>Guarde o token em local seguro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546</Words>
  <Application>Microsoft Office PowerPoint</Application>
  <PresentationFormat>Widescreen</PresentationFormat>
  <Paragraphs>89</Paragraphs>
  <Slides>6</Slides>
  <Notes>6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8" baseType="lpstr"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Como criar um token de API no Jira</dc:title>
  <dc:subject>Passo a passo para criar token de API no Jira</dc:subject>
  <dc:creator>OpenAI</dc:creator>
  <cp:lastModifiedBy>RAFAEL VALQUER MORAES DOS SANTOS</cp:lastModifiedBy>
  <cp:revision>2</cp:revision>
  <dcterms:created xsi:type="dcterms:W3CDTF">2026-05-18T19:06:18Z</dcterms:created>
  <dcterms:modified xsi:type="dcterms:W3CDTF">2026-05-18T19:08:21Z</dcterms:modified>
</cp:coreProperties>
</file>